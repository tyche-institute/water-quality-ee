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/>
              <a:t>Hi, I'm Anton Sokolov. My final project for the Machine Learning course is a
**probabilistic risk estimator for water-quality compliance** in Estonia.
The data comes from Terviseamet's open XML feed; the goal is a binary
classifier that decides whether a single laboratory probe matches the official
health norm. The model is already in production at **h2oatlas.ee**, where it
runs alongside the official label as a second opinion. I'll spend the next
five minutes on data, methodology, results, and what we learned.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/>
              <a:t>We pulled probes from four domains — bathing waters, public water-supply,
swimming pools and SPAs, and drinking-water sources — for the years 2021 to
2026. After cleaning and de-duplication we have just over **69 000 probes**.
The class balance is heavily skewed: about **87% pass, 13% violate**. The
priority metric for us is **recall on the violation class**: a false negative
means we tell the user "the water is fine" when in fact it is not, which is a
much worse failure than a false alarm. One subtle data issue worth noting:
Terviseamet renames the same physical site between yearly XML files, so we
introduced a normalised `location_key` to avoid double-counting.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/>
              <a:t>The pipeline is six numbered notebooks. Feature engineering produces 70
columns: raw measurements, ratio-to-norm features, missing-value indicators,
month and season, plus one-hot domain and county — fitted on train only to
avoid leakage. We compared four classifiers: Logistic Regression as a
baseline, Random Forest, Gradient Boosting, and LightGBM. We deliberately
did **not** use SMOTE; instead we relied on `class_weight="balanced"` and
threshold tuning on the precision-recall curve, which keeps the calibrated
probabilities meaningful. We validated both with a random 80/20 split and a
five-fold time-series cross-validation, and the metrics agreed within a few
points, so the model isn't simply memorising the calendar year.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/>
              <a:t>LightGBM came out on top: ROC-AUC of **0.995**, F1 on the violation class of
**0.92**. Recall at the default threshold is 0.95; if we tighten the
threshold, Gradient Boosting is competitive and even gives a slightly higher
recall, but at lower precision. The honest reading is that **LightGBM gives
the best precision–recall trade-off**, and the threshold lets us slide along
that curve without retraining. The Logistic Regression baseline is far below
— that gap shows the problem really does benefit from non-linear models and
feature interactions.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/>
              <a:t>SHAP analysis on a 800-sample slice ranks **iron-missing, combined chlorine,
free chlorine, colonies-at-37C-missing, and pH-missing** as the top five
drivers. The headline here is that the **missing-value indicators dominate**.
That sounds counter-intuitive, but it isn't: which parameters are measured at
all tells the model a lot about the *type* of probe — pool chemistry, drinking
water, or open bathing water — and that type carries a different baseline
risk. Raw chemistry features like coliforms, pH, and oxidisability follow.
The right-hand calibration plot shows that all four models track the
ideal diagonal closely, so the predicted probabilities are trustworthy enough
to expose on the public map.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/>
              <a:t>Three honest limitations. **First**, the target label is largely a function
of the same input parameters, so an AUC above 0.99 partly reflects the
**structure of the task**, not a unique prediction ability. **Second**, our
Phase-10 audit found about 3% of probes where the official verdict is
"violation" but no published parameter exceeds the norm — there is data we
don't see. **Third**, while validating, we found that our pool-water
chlorine norms were wrong; correcting them lifted the model's agreement with
the official label by 9 points. The production map at h2oatlas.ee carries
this disclaimer prominently: it does not replace official assessment.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/>
              <a:t>Our supervisor warned us that data work, class imbalance, and multi-model
comparison would take longer than we'd planned. He was right. Three things
we'd do exactly the same again. **One**, we scoped progressively — two
domains first, four only after the pipeline stabilised. **Two**, we added a
data-quality audit phase only after the first model surprised us — and that
audit caught real bugs. **Three**, we kept the imbalance handling
conservative: weights and thresholds, not synthetic oversampling, so the
calibrated probabilities you see on the map actually mean what they say.
Thank you — happy to take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rial"/>
              </a:rPr>
              <a:t>TalTech ITI8612 · Machine Learning · Final Project ·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1153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Arial"/>
              </a:rPr>
              <a:t>Water Quality Compliance Estimator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Arial"/>
              </a:rPr>
              <a:t>A Probabilistic Risk Model for Estonian Open Water-Quality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46888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1F2937"/>
                </a:solidFill>
                <a:latin typeface="Arial"/>
              </a:rPr>
              <a:t>Anton Sokolov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8036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C757D"/>
                </a:solidFill>
                <a:latin typeface="Arial"/>
              </a:rPr>
              <a:t>Supervisor: TalTech course staff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93776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C757D"/>
                </a:solidFill>
                <a:latin typeface="Arial"/>
              </a:rPr>
              <a:t>Live application: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2120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0D6EFD"/>
                </a:solidFill>
                <a:latin typeface="Arial"/>
              </a:rPr>
              <a:t>https://h2oatlas.ee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0644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6C757D"/>
                </a:solidFill>
                <a:latin typeface="Arial"/>
              </a:rPr>
              <a:t>Source: github.com/h2oatlas/water-quality-ee  ·  Data: vtiav.sm.ee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Arial"/>
              </a:rPr>
              <a:t>Problem &amp;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C757D"/>
                </a:solidFill>
                <a:latin typeface="Arial"/>
              </a:rPr>
              <a:t>Binary classification of laboratory probes against Estonian health norms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6400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>
                <a:solidFill>
                  <a:srgbClr val="1F2937"/>
                </a:solidFill>
                <a:latin typeface="Arial"/>
              </a:rPr>
              <a:t>•  Source: Terviseamet open data (vtiav.sm.ee), XML, 2021–2026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F2937"/>
                </a:solidFill>
                <a:latin typeface="Arial"/>
              </a:rPr>
              <a:t>•  4 domains: bathing, public water-supply, pools/SPA, drinking sources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F2937"/>
                </a:solidFill>
                <a:latin typeface="Arial"/>
              </a:rPr>
              <a:t>•  69 071 probes; ~70 engineered features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F2937"/>
                </a:solidFill>
                <a:latin typeface="Arial"/>
              </a:rPr>
              <a:t>•  Class imbalance: 86.9% compliant  vs  13.1% violation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F2937"/>
                </a:solidFill>
                <a:latin typeface="Arial"/>
              </a:rPr>
              <a:t>•  Priority metric: Recall on class 0 (violation)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F2937"/>
                </a:solidFill>
                <a:latin typeface="Arial"/>
              </a:rPr>
              <a:t>•  False negative ≫ False positive (E. coli, microbial risk)</a:t>
            </a:r>
          </a:p>
        </p:txBody>
      </p:sp>
      <p:pic>
        <p:nvPicPr>
          <p:cNvPr id="6" name="Picture 5" descr="class_bal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554480"/>
            <a:ext cx="4389120" cy="319208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C757D"/>
                </a:solidFill>
                <a:latin typeface="Arial"/>
              </a:rPr>
              <a:t>Water Quality Compliance Estimator  ·  TalTech ITI8612  ·  h2oatlas.ee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C757D"/>
                </a:solidFill>
                <a:latin typeface="Arial"/>
              </a:rPr>
              <a:t>2 /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Arial"/>
              </a:rPr>
              <a:t>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C757D"/>
                </a:solidFill>
                <a:latin typeface="Arial"/>
              </a:rPr>
              <a:t>Pipeline · feature engineering · 4 models · calibration · threshold tuning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1734769" cy="128016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0D6E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000" rIns="45000"/>
          <a:lstStyle/>
          <a:p>
            <a:pPr algn="ctr"/>
            <a:r>
              <a:rPr sz="1300" b="1">
                <a:solidFill>
                  <a:srgbClr val="1F2937"/>
                </a:solidFill>
                <a:latin typeface="Arial"/>
              </a:rPr>
              <a:t>XML
load+parse</a:t>
            </a:r>
          </a:p>
          <a:p>
            <a:pPr algn="ctr"/>
            <a:r>
              <a:rPr sz="900">
                <a:solidFill>
                  <a:srgbClr val="6C757D"/>
                </a:solidFill>
              </a:rPr>
              <a:t>data_loader.py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93409" y="2331720"/>
            <a:ext cx="137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6C757D"/>
                </a:solidFill>
                <a:latin typeface="Arial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20569" y="1828800"/>
            <a:ext cx="1734769" cy="128016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0D6E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000" rIns="45000"/>
          <a:lstStyle/>
          <a:p>
            <a:pPr algn="ctr"/>
            <a:r>
              <a:rPr sz="1300" b="1">
                <a:solidFill>
                  <a:srgbClr val="1F2937"/>
                </a:solidFill>
                <a:latin typeface="Arial"/>
              </a:rPr>
              <a:t>Dedup
location_key</a:t>
            </a:r>
          </a:p>
          <a:p>
            <a:pPr algn="ctr"/>
            <a:r>
              <a:rPr sz="900">
                <a:solidFill>
                  <a:srgbClr val="6C757D"/>
                </a:solidFill>
              </a:rPr>
              <a:t>normalize_location()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5338" y="2331720"/>
            <a:ext cx="137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6C757D"/>
                </a:solidFill>
                <a:latin typeface="Arial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2498" y="1828800"/>
            <a:ext cx="1734769" cy="128016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0D6E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000" rIns="45000"/>
          <a:lstStyle/>
          <a:p>
            <a:pPr algn="ctr"/>
            <a:r>
              <a:rPr sz="1300" b="1">
                <a:solidFill>
                  <a:srgbClr val="1F2937"/>
                </a:solidFill>
                <a:latin typeface="Arial"/>
              </a:rPr>
              <a:t>Feature
engineering</a:t>
            </a:r>
          </a:p>
          <a:p>
            <a:pPr algn="ctr"/>
            <a:r>
              <a:rPr sz="900">
                <a:solidFill>
                  <a:srgbClr val="6C757D"/>
                </a:solidFill>
              </a:rPr>
              <a:t>ratio + time + missing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7267" y="2331720"/>
            <a:ext cx="137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6C757D"/>
                </a:solidFill>
                <a:latin typeface="Arial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64427" y="1828800"/>
            <a:ext cx="1734769" cy="128016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0D6E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000" rIns="45000"/>
          <a:lstStyle/>
          <a:p>
            <a:pPr algn="ctr"/>
            <a:r>
              <a:rPr sz="1300" b="1">
                <a:solidFill>
                  <a:srgbClr val="1F2937"/>
                </a:solidFill>
                <a:latin typeface="Arial"/>
              </a:rPr>
              <a:t>Split
80/20 + TS-CV</a:t>
            </a:r>
          </a:p>
          <a:p>
            <a:pPr algn="ctr"/>
            <a:r>
              <a:rPr sz="900">
                <a:solidFill>
                  <a:srgbClr val="6C757D"/>
                </a:solidFill>
              </a:rPr>
              <a:t>stratified + temporal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09196" y="2331720"/>
            <a:ext cx="137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6C757D"/>
                </a:solidFill>
                <a:latin typeface="Arial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36356" y="1828800"/>
            <a:ext cx="1734769" cy="128016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0D6E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000" rIns="45000"/>
          <a:lstStyle/>
          <a:p>
            <a:pPr algn="ctr"/>
            <a:r>
              <a:rPr sz="1300" b="1">
                <a:solidFill>
                  <a:srgbClr val="1F2937"/>
                </a:solidFill>
                <a:latin typeface="Arial"/>
              </a:rPr>
              <a:t>Models
LR · RF · GB · LightGBM</a:t>
            </a:r>
          </a:p>
          <a:p>
            <a:pPr algn="ctr"/>
            <a:r>
              <a:rPr sz="900">
                <a:solidFill>
                  <a:srgbClr val="6C757D"/>
                </a:solidFill>
              </a:rPr>
              <a:t>class_weight balanced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1125" y="2331720"/>
            <a:ext cx="137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6C757D"/>
                </a:solidFill>
                <a:latin typeface="Arial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908285" y="1828800"/>
            <a:ext cx="1734769" cy="128016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0D6E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000" rIns="45000"/>
          <a:lstStyle/>
          <a:p>
            <a:pPr algn="ctr"/>
            <a:r>
              <a:rPr sz="1300" b="1">
                <a:solidFill>
                  <a:srgbClr val="1F2937"/>
                </a:solidFill>
                <a:latin typeface="Arial"/>
              </a:rPr>
              <a:t>Calibrate
+ threshold</a:t>
            </a:r>
          </a:p>
          <a:p>
            <a:pPr algn="ctr"/>
            <a:r>
              <a:rPr sz="900">
                <a:solidFill>
                  <a:srgbClr val="6C757D"/>
                </a:solidFill>
              </a:rPr>
              <a:t>isotonic + PR tuning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65760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0D6EFD"/>
                </a:solidFill>
                <a:latin typeface="Arial"/>
              </a:rPr>
              <a:t>Key choices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114800"/>
            <a:ext cx="11094415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1F2937"/>
                </a:solidFill>
                <a:latin typeface="Arial"/>
              </a:rPr>
              <a:t>•  No SMOTE — keeps probability calibration interpretable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1F2937"/>
                </a:solidFill>
                <a:latin typeface="Arial"/>
              </a:rPr>
              <a:t>•  Threshold optimised for Recall(viol.) at Precision ≥ 0.7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1F2937"/>
                </a:solidFill>
                <a:latin typeface="Arial"/>
              </a:rPr>
              <a:t>•  County encoding is fit on train only (no leakage)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1F2937"/>
                </a:solidFill>
                <a:latin typeface="Arial"/>
              </a:rPr>
              <a:t>•  Time-Series CV (n=5) confirms metrics survive temporal drift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C757D"/>
                </a:solidFill>
                <a:latin typeface="Arial"/>
              </a:rPr>
              <a:t>Water Quality Compliance Estimator  ·  TalTech ITI8612  ·  h2oatlas.ee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C757D"/>
                </a:solidFill>
                <a:latin typeface="Arial"/>
              </a:rPr>
              <a:t>3 /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Arial"/>
              </a:rPr>
              <a:t>Results — Model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C757D"/>
                </a:solidFill>
                <a:latin typeface="Arial"/>
              </a:rPr>
              <a:t>Hold-out test set (13 815 probes) · class-0 priority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554480"/>
          <a:ext cx="64008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280160"/>
                <a:gridCol w="1280160"/>
                <a:gridCol w="1280160"/>
                <a:gridCol w="1280160"/>
              </a:tblGrid>
              <a:tr h="475488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Arial"/>
                        </a:rPr>
                        <a:t>Model</a:t>
                      </a:r>
                    </a:p>
                  </a:txBody>
                  <a:tcPr>
                    <a:solidFill>
                      <a:srgbClr val="0D6E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Arial"/>
                        </a:rPr>
                        <a:t>ROC-AUC</a:t>
                      </a:r>
                    </a:p>
                  </a:txBody>
                  <a:tcPr>
                    <a:solidFill>
                      <a:srgbClr val="0D6E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Arial"/>
                        </a:rPr>
                        <a:t>Recall (viol.)</a:t>
                      </a:r>
                    </a:p>
                  </a:txBody>
                  <a:tcPr>
                    <a:solidFill>
                      <a:srgbClr val="0D6E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Arial"/>
                        </a:rPr>
                        <a:t>Precision (viol.)</a:t>
                      </a:r>
                    </a:p>
                  </a:txBody>
                  <a:tcPr>
                    <a:solidFill>
                      <a:srgbClr val="0D6E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Arial"/>
                        </a:rPr>
                        <a:t>F1 (viol.)</a:t>
                      </a:r>
                    </a:p>
                  </a:txBody>
                  <a:tcPr>
                    <a:solidFill>
                      <a:srgbClr val="0D6EF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Logistic Regression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0.951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0.866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0.576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0.692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Random Forest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0.986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0.921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0.845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0.881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Gradient Boosting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0.992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0.962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0.834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0.893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2937"/>
                          </a:solidFill>
                          <a:latin typeface="Arial"/>
                        </a:rPr>
                        <a:t>LightGBM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2937"/>
                          </a:solidFill>
                          <a:latin typeface="Arial"/>
                        </a:rPr>
                        <a:t>0.995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2937"/>
                          </a:solidFill>
                          <a:latin typeface="Arial"/>
                        </a:rPr>
                        <a:t>0.951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2937"/>
                          </a:solidFill>
                          <a:latin typeface="Arial"/>
                        </a:rPr>
                        <a:t>0.900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2937"/>
                          </a:solidFill>
                          <a:latin typeface="Arial"/>
                        </a:rPr>
                        <a:t>0.925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416052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DC3545"/>
                </a:solidFill>
                <a:latin typeface="Arial"/>
              </a:rPr>
              <a:t>LightGBM — best AUC + best F1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526280"/>
            <a:ext cx="6400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  <a:latin typeface="Arial"/>
              </a:rPr>
              <a:t>•  Recall 0.95 / Precision 0.90 at default threshold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  <a:latin typeface="Arial"/>
              </a:rPr>
              <a:t>•  Threshold can slide along the PR curve at inference time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  <a:latin typeface="Arial"/>
              </a:rPr>
              <a:t>•  GB reaches 0.96 recall at lower precision — alternative</a:t>
            </a:r>
          </a:p>
        </p:txBody>
      </p:sp>
      <p:pic>
        <p:nvPicPr>
          <p:cNvPr id="8" name="Picture 7" descr="roc_curves_4_mod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0" y="1554480"/>
            <a:ext cx="4572000" cy="351692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C757D"/>
                </a:solidFill>
                <a:latin typeface="Arial"/>
              </a:rPr>
              <a:t>Water Quality Compliance Estimator  ·  TalTech ITI8612  ·  h2oatlas.ee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C757D"/>
                </a:solidFill>
                <a:latin typeface="Arial"/>
              </a:rPr>
              <a:t>4 /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Arial"/>
              </a:rPr>
              <a:t>Interpretation — SHAP &amp; Calibration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C757D"/>
                </a:solidFill>
                <a:latin typeface="Arial"/>
              </a:rPr>
              <a:t>What drives the prediction · how trustworthy are the probabilities</a:t>
            </a:r>
          </a:p>
        </p:txBody>
      </p:sp>
      <p:pic>
        <p:nvPicPr>
          <p:cNvPr id="5" name="Picture 4" descr="shap_top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0"/>
            <a:ext cx="5760720" cy="4526280"/>
          </a:xfrm>
          <a:prstGeom prst="rect">
            <a:avLst/>
          </a:prstGeom>
        </p:spPr>
      </p:pic>
      <p:pic>
        <p:nvPicPr>
          <p:cNvPr id="6" name="Picture 5" descr="calibration_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463040"/>
            <a:ext cx="5212080" cy="40092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5486400"/>
            <a:ext cx="1146017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1F2937"/>
                </a:solidFill>
                <a:latin typeface="Arial"/>
              </a:rPr>
              <a:t>•  Top-5: iron_missing · combined_chlorine · free_chlorine · colonies_37c_missing · ph_missing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F2937"/>
                </a:solidFill>
                <a:latin typeface="Arial"/>
              </a:rPr>
              <a:t>•  Missing-value indicators encode probe type → baseline risk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F2937"/>
                </a:solidFill>
                <a:latin typeface="Arial"/>
              </a:rPr>
              <a:t>•  All 4 models track the ideal diagonal closely — probabilities are trustworthy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C757D"/>
                </a:solidFill>
                <a:latin typeface="Arial"/>
              </a:rPr>
              <a:t>Water Quality Compliance Estimator  ·  TalTech ITI8612  ·  h2oatlas.ee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C757D"/>
                </a:solidFill>
                <a:latin typeface="Arial"/>
              </a:rPr>
              <a:t>5 /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Arial"/>
              </a:rPr>
              <a:t>Limitations &amp; Production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C757D"/>
                </a:solidFill>
                <a:latin typeface="Arial"/>
              </a:rPr>
              <a:t>What the model can't do · how it ships to citizens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5943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D6EFD"/>
                </a:solidFill>
                <a:latin typeface="Arial"/>
              </a:rPr>
              <a:t>Three honest limitations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74519"/>
            <a:ext cx="5943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  <a:latin typeface="Arial"/>
              </a:rPr>
              <a:t>•  Target = function of input → AUC &gt; 0.99 reflects task structure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  <a:latin typeface="Arial"/>
              </a:rPr>
              <a:t>•  Model does not measure unmeasured contaminants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  <a:latin typeface="Arial"/>
              </a:rPr>
              <a:t>•  Phase-10 audit: 3.1% probes labelled violation with all params in norm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  <a:latin typeface="Arial"/>
              </a:rPr>
              <a:t>•  Pool chlorine norms were wrong — fix lifted agreement +9 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029200"/>
            <a:ext cx="5943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D6EFD"/>
                </a:solidFill>
                <a:latin typeface="Arial"/>
              </a:rPr>
              <a:t>Production:  h2oatlas.ee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440680"/>
            <a:ext cx="5943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Arial"/>
              </a:rPr>
              <a:t>2 196 locations · 2 layers (official + model risk) · 3 languages · disclaimer that the service does not replace official assessment.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0" y="1554480"/>
            <a:ext cx="4937760" cy="411480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0D6E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0" y="3291840"/>
            <a:ext cx="4937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6C757D"/>
                </a:solidFill>
                <a:latin typeface="Arial"/>
              </a:rPr>
              <a:t>[ insert h2oatlas.ee screenshot 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3657600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6C757D"/>
                </a:solidFill>
                <a:latin typeface="Arial"/>
              </a:rPr>
              <a:t>save as submission/figures/h2oatlas_screenshot.png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C757D"/>
                </a:solidFill>
                <a:latin typeface="Arial"/>
              </a:rPr>
              <a:t>Water Quality Compliance Estimator  ·  TalTech ITI8612  ·  h2oatlas.ee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C757D"/>
                </a:solidFill>
                <a:latin typeface="Arial"/>
              </a:rPr>
              <a:t>6 /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Arial"/>
              </a:rPr>
              <a:t>Lessons Learned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C757D"/>
                </a:solidFill>
                <a:latin typeface="Arial"/>
              </a:rPr>
              <a:t>Direct response to the supervisor's note: scope, data quality, imbalance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11094415" cy="91440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0D6E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i="1" sz="1400">
                <a:solidFill>
                  <a:srgbClr val="1F2937"/>
                </a:solidFill>
              </a:rPr>
              <a:t>"Data processing, handling imbalanced classes, and comparing multiple models may take more time than originally expected."</a:t>
            </a:r>
          </a:p>
          <a:p>
            <a:pPr algn="ctr"/>
            <a:r>
              <a:rPr sz="1000">
                <a:solidFill>
                  <a:srgbClr val="6C757D"/>
                </a:solidFill>
              </a:rPr>
              <a:t>— supervisor feedback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0"/>
            <a:ext cx="1109441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D6EFD"/>
                </a:solidFill>
                <a:latin typeface="Arial"/>
              </a:rPr>
              <a:t>1.  Progressive scope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154680"/>
            <a:ext cx="110944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Arial"/>
              </a:rPr>
              <a:t>Started with 2 domains (supluskoha + veevärk). Expanded to 4 only after the pipeline stabilised.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886200"/>
            <a:ext cx="1109441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D6EFD"/>
                </a:solidFill>
                <a:latin typeface="Arial"/>
              </a:rPr>
              <a:t>2.  Data-quality audit (Phase 10)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297680"/>
            <a:ext cx="110944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Arial"/>
              </a:rPr>
              <a:t>Added only after the first model surprised us — caught a real bug in pool chlorine norms (+9 pp agreement).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029200"/>
            <a:ext cx="1109441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D6EFD"/>
                </a:solidFill>
                <a:latin typeface="Arial"/>
              </a:rPr>
              <a:t>3.  Imbalance handling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440680"/>
            <a:ext cx="110944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Arial"/>
              </a:rPr>
              <a:t>class_weight='balanced' + threshold tuning, NOT SMOTE — keeps probabilities calibrated and interpretable on the public map.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08076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DC3545"/>
                </a:solidFill>
                <a:latin typeface="Arial"/>
              </a:rPr>
              <a:t>Thank you — questions welcome.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C757D"/>
                </a:solidFill>
                <a:latin typeface="Arial"/>
              </a:rPr>
              <a:t>Water Quality Compliance Estimator  ·  TalTech ITI8612  ·  h2oatlas.ee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C757D"/>
                </a:solidFill>
                <a:latin typeface="Arial"/>
              </a:rPr>
              <a:t>7 /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